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1"/>
  </p:sldMasterIdLst>
  <p:sldIdLst>
    <p:sldId id="256" r:id="rId2"/>
    <p:sldId id="257" r:id="rId3"/>
    <p:sldId id="258" r:id="rId4"/>
    <p:sldId id="259" r:id="rId5"/>
    <p:sldId id="261" r:id="rId6"/>
    <p:sldId id="260"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9" d="100"/>
          <a:sy n="89" d="100"/>
        </p:scale>
        <p:origin x="624" y="3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Celestia-R1---OverlayTitle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397750" cy="6858000"/>
          </a:xfrm>
          <a:prstGeom prst="rect">
            <a:avLst/>
          </a:prstGeom>
        </p:spPr>
      </p:pic>
      <p:sp>
        <p:nvSpPr>
          <p:cNvPr id="2" name="Title 1"/>
          <p:cNvSpPr>
            <a:spLocks noGrp="1"/>
          </p:cNvSpPr>
          <p:nvPr>
            <p:ph type="ctrTitle"/>
          </p:nvPr>
        </p:nvSpPr>
        <p:spPr>
          <a:xfrm>
            <a:off x="2743973" y="1964267"/>
            <a:ext cx="5714228" cy="2421464"/>
          </a:xfrm>
        </p:spPr>
        <p:txBody>
          <a:bodyPr anchor="b">
            <a:normAutofit/>
          </a:bodyPr>
          <a:lstStyle>
            <a:lvl1pPr algn="r">
              <a:defRPr sz="4400">
                <a:effectLst/>
              </a:defRPr>
            </a:lvl1pPr>
          </a:lstStyle>
          <a:p>
            <a:r>
              <a:rPr lang="en-GB"/>
              <a:t>Click to edit Master title style</a:t>
            </a:r>
            <a:endParaRPr lang="en-US" dirty="0"/>
          </a:p>
        </p:txBody>
      </p:sp>
      <p:sp>
        <p:nvSpPr>
          <p:cNvPr id="3" name="Subtitle 2"/>
          <p:cNvSpPr>
            <a:spLocks noGrp="1"/>
          </p:cNvSpPr>
          <p:nvPr>
            <p:ph type="subTitle" idx="1"/>
          </p:nvPr>
        </p:nvSpPr>
        <p:spPr>
          <a:xfrm>
            <a:off x="2743973" y="4385733"/>
            <a:ext cx="5714228"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a:xfrm>
            <a:off x="6752311" y="5870576"/>
            <a:ext cx="1212173" cy="377825"/>
          </a:xfrm>
        </p:spPr>
        <p:txBody>
          <a:bodyPr/>
          <a:lstStyle/>
          <a:p>
            <a:fld id="{5BCAD085-E8A6-8845-BD4E-CB4CCA059FC4}" type="datetimeFigureOut">
              <a:rPr lang="en-US" smtClean="0"/>
              <a:t>2/11/2026</a:t>
            </a:fld>
            <a:endParaRPr lang="en-US"/>
          </a:p>
        </p:txBody>
      </p:sp>
      <p:sp>
        <p:nvSpPr>
          <p:cNvPr id="5" name="Footer Placeholder 4"/>
          <p:cNvSpPr>
            <a:spLocks noGrp="1"/>
          </p:cNvSpPr>
          <p:nvPr>
            <p:ph type="ftr" sz="quarter" idx="11"/>
          </p:nvPr>
        </p:nvSpPr>
        <p:spPr>
          <a:xfrm>
            <a:off x="2743973" y="5870576"/>
            <a:ext cx="3932137" cy="377825"/>
          </a:xfrm>
        </p:spPr>
        <p:txBody>
          <a:bodyPr/>
          <a:lstStyle/>
          <a:p>
            <a:endParaRPr lang="en-US"/>
          </a:p>
        </p:txBody>
      </p:sp>
      <p:sp>
        <p:nvSpPr>
          <p:cNvPr id="6" name="Slide Number Placeholder 5"/>
          <p:cNvSpPr>
            <a:spLocks noGrp="1"/>
          </p:cNvSpPr>
          <p:nvPr>
            <p:ph type="sldNum" sz="quarter" idx="12"/>
          </p:nvPr>
        </p:nvSpPr>
        <p:spPr>
          <a:xfrm>
            <a:off x="8040685" y="5870576"/>
            <a:ext cx="417516" cy="3778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51753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normAutofit/>
          </a:bodyPr>
          <a:lstStyle>
            <a:lvl1pPr>
              <a:defRPr sz="2800"/>
            </a:lvl1pPr>
          </a:lstStyle>
          <a:p>
            <a:r>
              <a:rPr lang="en-GB"/>
              <a:t>Click to edit Master title style</a:t>
            </a:r>
            <a:endParaRPr lang="en-US" dirty="0"/>
          </a:p>
        </p:txBody>
      </p:sp>
      <p:sp>
        <p:nvSpPr>
          <p:cNvPr id="3" name="Content Placeholder 2"/>
          <p:cNvSpPr>
            <a:spLocks noGrp="1"/>
          </p:cNvSpPr>
          <p:nvPr>
            <p:ph idx="1"/>
          </p:nvPr>
        </p:nvSpPr>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7135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2" y="3308581"/>
            <a:ext cx="7772400" cy="1468800"/>
          </a:xfrm>
        </p:spPr>
        <p:txBody>
          <a:bodyPr anchor="b">
            <a:normAutofit/>
          </a:bodyPr>
          <a:lstStyle>
            <a:lvl1pPr algn="l">
              <a:defRPr sz="3200" b="0" cap="all"/>
            </a:lvl1pPr>
          </a:lstStyle>
          <a:p>
            <a:r>
              <a:rPr lang="en-GB"/>
              <a:t>Click to edit Master title style</a:t>
            </a:r>
            <a:endParaRPr lang="en-US" dirty="0"/>
          </a:p>
        </p:txBody>
      </p:sp>
      <p:sp>
        <p:nvSpPr>
          <p:cNvPr id="3" name="Text Placeholder 2"/>
          <p:cNvSpPr>
            <a:spLocks noGrp="1"/>
          </p:cNvSpPr>
          <p:nvPr>
            <p:ph type="body" idx="1"/>
          </p:nvPr>
        </p:nvSpPr>
        <p:spPr>
          <a:xfrm>
            <a:off x="457201" y="4777381"/>
            <a:ext cx="7772400" cy="860400"/>
          </a:xfrm>
        </p:spPr>
        <p:txBody>
          <a:bodyPr anchor="t">
            <a:normAutofit/>
          </a:bodyPr>
          <a:lstStyle>
            <a:lvl1pPr marL="0" indent="0" algn="l">
              <a:buNone/>
              <a:defRPr sz="18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93155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457201" y="2142068"/>
            <a:ext cx="3813048" cy="3649134"/>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416553" y="2142068"/>
            <a:ext cx="3813048" cy="3649133"/>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7730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normAutofit/>
          </a:bodyPr>
          <a:lstStyle>
            <a:lvl1pPr>
              <a:defRPr sz="3200"/>
            </a:lvl1pPr>
          </a:lstStyle>
          <a:p>
            <a:r>
              <a:rPr lang="en-GB"/>
              <a:t>Click to edit Master title style</a:t>
            </a:r>
            <a:endParaRPr lang="en-US" dirty="0"/>
          </a:p>
        </p:txBody>
      </p:sp>
      <p:sp>
        <p:nvSpPr>
          <p:cNvPr id="3" name="Text Placeholder 2"/>
          <p:cNvSpPr>
            <a:spLocks noGrp="1"/>
          </p:cNvSpPr>
          <p:nvPr>
            <p:ph type="body" idx="1"/>
          </p:nvPr>
        </p:nvSpPr>
        <p:spPr>
          <a:xfrm>
            <a:off x="743480" y="2218267"/>
            <a:ext cx="354060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870201"/>
            <a:ext cx="3813048" cy="2920998"/>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711120" y="2218267"/>
            <a:ext cx="3518480"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416552" y="2870201"/>
            <a:ext cx="3813048" cy="2920998"/>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33805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609601"/>
            <a:ext cx="7772400" cy="1456267"/>
          </a:xfrm>
        </p:spPr>
        <p:txBody>
          <a:bodyPr>
            <a:normAutofit/>
          </a:bodyPr>
          <a:lstStyle>
            <a:lvl1pPr>
              <a:defRPr sz="3200"/>
            </a:lvl1p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50313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Date Placeholder 1"/>
          <p:cNvSpPr>
            <a:spLocks noGrp="1"/>
          </p:cNvSpPr>
          <p:nvPr>
            <p:ph type="dt" sz="half" idx="10"/>
          </p:nvPr>
        </p:nvSpPr>
        <p:spPr/>
        <p:txBody>
          <a:bodyPr/>
          <a:lstStyle/>
          <a:p>
            <a:fld id="{5BCAD085-E8A6-8845-BD4E-CB4CCA059FC4}" type="datetimeFigureOut">
              <a:rPr lang="en-US" smtClean="0"/>
              <a:t>2/11/2026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4461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2" name="Picture 11"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1718" y="1557868"/>
            <a:ext cx="2862910" cy="1439332"/>
          </a:xfrm>
        </p:spPr>
        <p:txBody>
          <a:bodyPr anchor="b">
            <a:normAutofit/>
          </a:bodyPr>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3606144" y="609601"/>
            <a:ext cx="4627975" cy="5181600"/>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461718" y="2997200"/>
            <a:ext cx="2862910" cy="184573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38696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1" name="Picture 10"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2128" y="1735672"/>
            <a:ext cx="4097204" cy="1371600"/>
          </a:xfrm>
        </p:spPr>
        <p:txBody>
          <a:bodyPr anchor="b">
            <a:normAutofit/>
          </a:bodyPr>
          <a:lstStyle>
            <a:lvl1pPr algn="l">
              <a:defRPr sz="2400" b="0"/>
            </a:lvl1pPr>
          </a:lstStyle>
          <a:p>
            <a:r>
              <a:rPr lang="en-GB"/>
              <a:t>Click to edit Master title style</a:t>
            </a:r>
            <a:endParaRPr lang="en-US" dirty="0"/>
          </a:p>
        </p:txBody>
      </p:sp>
      <p:sp>
        <p:nvSpPr>
          <p:cNvPr id="14" name="Picture Placeholder 2"/>
          <p:cNvSpPr>
            <a:spLocks noGrp="1" noChangeAspect="1"/>
          </p:cNvSpPr>
          <p:nvPr>
            <p:ph type="pic" idx="1"/>
          </p:nvPr>
        </p:nvSpPr>
        <p:spPr>
          <a:xfrm>
            <a:off x="5029200" y="914400"/>
            <a:ext cx="3200400"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dirty="0"/>
            </a:lvl1pPr>
          </a:lstStyle>
          <a:p>
            <a:pPr marL="0" lvl="0" indent="0" algn="ctr">
              <a:buNone/>
            </a:pPr>
            <a:r>
              <a:rPr lang="en-GB"/>
              <a:t>Click icon to add picture</a:t>
            </a:r>
            <a:endParaRPr lang="en-US" dirty="0"/>
          </a:p>
        </p:txBody>
      </p:sp>
      <p:sp>
        <p:nvSpPr>
          <p:cNvPr id="4" name="Text Placeholder 3"/>
          <p:cNvSpPr>
            <a:spLocks noGrp="1"/>
          </p:cNvSpPr>
          <p:nvPr>
            <p:ph type="body" sz="half" idx="2"/>
          </p:nvPr>
        </p:nvSpPr>
        <p:spPr>
          <a:xfrm>
            <a:off x="462128" y="3107272"/>
            <a:ext cx="4097204"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42244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4732865"/>
            <a:ext cx="7772400" cy="566738"/>
          </a:xfrm>
        </p:spPr>
        <p:txBody>
          <a:bodyPr anchor="b">
            <a:normAutofit/>
          </a:bodyPr>
          <a:lstStyle>
            <a:lvl1pPr algn="l">
              <a:defRPr sz="20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914401" y="932112"/>
            <a:ext cx="6858000"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a:lvl1pPr>
          </a:lstStyle>
          <a:p>
            <a:pPr marL="0" lvl="0" indent="0" algn="ctr">
              <a:buNone/>
            </a:pPr>
            <a:r>
              <a:rPr lang="en-GB"/>
              <a:t>Click icon to add picture</a:t>
            </a:r>
            <a:endParaRPr lang="en-US" dirty="0"/>
          </a:p>
        </p:txBody>
      </p:sp>
      <p:sp>
        <p:nvSpPr>
          <p:cNvPr id="4" name="Text Placeholder 3"/>
          <p:cNvSpPr>
            <a:spLocks noGrp="1"/>
          </p:cNvSpPr>
          <p:nvPr>
            <p:ph type="body" sz="half" idx="2"/>
          </p:nvPr>
        </p:nvSpPr>
        <p:spPr>
          <a:xfrm>
            <a:off x="457201" y="5299603"/>
            <a:ext cx="77724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79354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3" y="609602"/>
            <a:ext cx="7772399" cy="3124199"/>
          </a:xfrm>
        </p:spPr>
        <p:txBody>
          <a:bodyPr anchor="ctr">
            <a:normAutofit/>
          </a:bodyPr>
          <a:lstStyle>
            <a:lvl1pPr algn="l">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457202" y="4343400"/>
            <a:ext cx="7772399"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491781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7" name="Picture 1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14" name="TextBox 13"/>
          <p:cNvSpPr txBox="1"/>
          <p:nvPr/>
        </p:nvSpPr>
        <p:spPr>
          <a:xfrm>
            <a:off x="421796" y="718114"/>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7735800" y="275167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879115" y="609602"/>
            <a:ext cx="7091297" cy="2743199"/>
          </a:xfrm>
        </p:spPr>
        <p:txBody>
          <a:bodyPr anchor="ctr">
            <a:normAutofit/>
          </a:bodyPr>
          <a:lstStyle>
            <a:lvl1pPr algn="l">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988671" y="3352800"/>
            <a:ext cx="6876133" cy="381000"/>
          </a:xfrm>
        </p:spPr>
        <p:txBody>
          <a:bodyPr anchor="ctr">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462266" y="4343400"/>
            <a:ext cx="777240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830135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3291648"/>
            <a:ext cx="7772401" cy="1468800"/>
          </a:xfrm>
        </p:spPr>
        <p:txBody>
          <a:bodyPr anchor="b">
            <a:normAutofit/>
          </a:bodyPr>
          <a:lstStyle>
            <a:lvl1pPr algn="l">
              <a:defRPr sz="2800" b="0" cap="none"/>
            </a:lvl1pPr>
          </a:lstStyle>
          <a:p>
            <a:r>
              <a:rPr lang="en-GB"/>
              <a:t>Click to edit Master title style</a:t>
            </a:r>
            <a:endParaRPr lang="en-US" dirty="0"/>
          </a:p>
        </p:txBody>
      </p:sp>
      <p:sp>
        <p:nvSpPr>
          <p:cNvPr id="3" name="Text Placeholder 2"/>
          <p:cNvSpPr>
            <a:spLocks noGrp="1"/>
          </p:cNvSpPr>
          <p:nvPr>
            <p:ph type="body" idx="1"/>
          </p:nvPr>
        </p:nvSpPr>
        <p:spPr>
          <a:xfrm>
            <a:off x="457200" y="4760448"/>
            <a:ext cx="7772402"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29362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11" name="TextBox 10"/>
          <p:cNvSpPr txBox="1"/>
          <p:nvPr/>
        </p:nvSpPr>
        <p:spPr>
          <a:xfrm>
            <a:off x="421796" y="718114"/>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6" name="TextBox 15"/>
          <p:cNvSpPr txBox="1"/>
          <p:nvPr/>
        </p:nvSpPr>
        <p:spPr>
          <a:xfrm>
            <a:off x="7735800" y="275167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879115" y="609602"/>
            <a:ext cx="7091297" cy="2743199"/>
          </a:xfrm>
        </p:spPr>
        <p:txBody>
          <a:bodyPr anchor="ctr">
            <a:normAutofit/>
          </a:bodyPr>
          <a:lstStyle>
            <a:lvl1pPr algn="l">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457200" y="3886200"/>
            <a:ext cx="7772401" cy="8890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457200" y="4775200"/>
            <a:ext cx="7772401" cy="10160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47556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4440" y="609602"/>
            <a:ext cx="7772401" cy="2743199"/>
          </a:xfrm>
        </p:spPr>
        <p:txBody>
          <a:bodyPr vert="horz" lIns="91440" tIns="45720" rIns="91440" bIns="45720" rtlCol="0" anchor="ctr">
            <a:normAutofit/>
          </a:bodyPr>
          <a:lstStyle>
            <a:lvl1pPr>
              <a:defRPr lang="en-US" sz="2800" b="0" dirty="0"/>
            </a:lvl1pPr>
          </a:lstStyle>
          <a:p>
            <a:pPr marL="0" lvl="0"/>
            <a:r>
              <a:rPr lang="en-GB"/>
              <a:t>Click to edit Master title style</a:t>
            </a:r>
            <a:endParaRPr lang="en-US" dirty="0"/>
          </a:p>
        </p:txBody>
      </p:sp>
      <p:sp>
        <p:nvSpPr>
          <p:cNvPr id="10" name="Text Placeholder 9"/>
          <p:cNvSpPr>
            <a:spLocks noGrp="1"/>
          </p:cNvSpPr>
          <p:nvPr>
            <p:ph type="body" sz="quarter" idx="13"/>
          </p:nvPr>
        </p:nvSpPr>
        <p:spPr>
          <a:xfrm>
            <a:off x="464440" y="3505200"/>
            <a:ext cx="7772401" cy="8382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464439" y="4343400"/>
            <a:ext cx="7772401" cy="14478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460071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8" name="Title 1"/>
          <p:cNvSpPr>
            <a:spLocks noGrp="1"/>
          </p:cNvSpPr>
          <p:nvPr>
            <p:ph type="title"/>
          </p:nvPr>
        </p:nvSpPr>
        <p:spPr>
          <a:xfrm>
            <a:off x="457200" y="609601"/>
            <a:ext cx="7772400" cy="1456267"/>
          </a:xfrm>
        </p:spPr>
        <p:txBody>
          <a:bodyPr>
            <a:normAutofit/>
          </a:bodyPr>
          <a:lstStyle>
            <a:lvl1pPr>
              <a:defRPr sz="2800"/>
            </a:lvl1p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877733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Vertical Title 1"/>
          <p:cNvSpPr>
            <a:spLocks noGrp="1"/>
          </p:cNvSpPr>
          <p:nvPr>
            <p:ph type="title" orient="vert"/>
          </p:nvPr>
        </p:nvSpPr>
        <p:spPr>
          <a:xfrm>
            <a:off x="6552978" y="609600"/>
            <a:ext cx="1676621" cy="5181601"/>
          </a:xfrm>
        </p:spPr>
        <p:txBody>
          <a:bodyPr vert="eaVert">
            <a:normAutofit/>
          </a:bodyPr>
          <a:lstStyle>
            <a:lvl1pPr>
              <a:defRPr sz="2800"/>
            </a:lvl1pPr>
          </a:lstStyle>
          <a:p>
            <a:r>
              <a:rPr lang="en-GB"/>
              <a:t>Click to edit Master title style</a:t>
            </a:r>
            <a:endParaRPr lang="en-US" dirty="0"/>
          </a:p>
        </p:txBody>
      </p:sp>
      <p:sp>
        <p:nvSpPr>
          <p:cNvPr id="3" name="Vertical Text Placeholder 2"/>
          <p:cNvSpPr>
            <a:spLocks noGrp="1"/>
          </p:cNvSpPr>
          <p:nvPr>
            <p:ph type="body" orient="vert" idx="1"/>
          </p:nvPr>
        </p:nvSpPr>
        <p:spPr>
          <a:xfrm>
            <a:off x="457200" y="609600"/>
            <a:ext cx="5990184" cy="5181600"/>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13473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1"/>
            <a:ext cx="7772400" cy="1456267"/>
          </a:xfrm>
          <a:prstGeom prst="rect">
            <a:avLst/>
          </a:prstGeom>
          <a:effectLst/>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457200" y="2142068"/>
            <a:ext cx="7772400" cy="3649133"/>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523712" y="5870576"/>
            <a:ext cx="1212173"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2/11/2026</a:t>
            </a:fld>
            <a:endParaRPr lang="en-US"/>
          </a:p>
        </p:txBody>
      </p:sp>
      <p:sp>
        <p:nvSpPr>
          <p:cNvPr id="5" name="Footer Placeholder 4"/>
          <p:cNvSpPr>
            <a:spLocks noGrp="1"/>
          </p:cNvSpPr>
          <p:nvPr>
            <p:ph type="ftr" sz="quarter" idx="3"/>
          </p:nvPr>
        </p:nvSpPr>
        <p:spPr>
          <a:xfrm>
            <a:off x="457200" y="5870576"/>
            <a:ext cx="5990311"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812085" y="5870576"/>
            <a:ext cx="417516"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523305000"/>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SyriaTel Customer Churn Prediction</a:t>
            </a:r>
          </a:p>
        </p:txBody>
      </p:sp>
      <p:sp>
        <p:nvSpPr>
          <p:cNvPr id="3" name="Subtitle 2"/>
          <p:cNvSpPr>
            <a:spLocks noGrp="1"/>
          </p:cNvSpPr>
          <p:nvPr>
            <p:ph type="subTitle" idx="1"/>
          </p:nvPr>
        </p:nvSpPr>
        <p:spPr/>
        <p:txBody>
          <a:bodyPr/>
          <a:lstStyle/>
          <a:p>
            <a:r>
              <a:rPr dirty="0"/>
              <a:t>Logistic Regression Model Evaluation</a:t>
            </a:r>
            <a:endParaRPr lang="en-GB" dirty="0"/>
          </a:p>
          <a:p>
            <a:endParaRPr lang="en-GB" dirty="0"/>
          </a:p>
          <a:p>
            <a:r>
              <a:rPr lang="en-GB" dirty="0"/>
              <a:t>Presented by Isaac Macharia</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2"/>
            <a:ext cx="7772400" cy="810408"/>
          </a:xfrm>
        </p:spPr>
        <p:txBody>
          <a:bodyPr/>
          <a:lstStyle/>
          <a:p>
            <a:pPr algn="ctr"/>
            <a:r>
              <a:rPr dirty="0"/>
              <a:t>Business Problem</a:t>
            </a:r>
          </a:p>
        </p:txBody>
      </p:sp>
      <p:sp>
        <p:nvSpPr>
          <p:cNvPr id="3" name="Content Placeholder 2"/>
          <p:cNvSpPr>
            <a:spLocks noGrp="1"/>
          </p:cNvSpPr>
          <p:nvPr>
            <p:ph idx="1"/>
          </p:nvPr>
        </p:nvSpPr>
        <p:spPr>
          <a:xfrm>
            <a:off x="570156" y="1754642"/>
            <a:ext cx="7772400" cy="2639458"/>
          </a:xfrm>
        </p:spPr>
        <p:txBody>
          <a:bodyPr anchor="t">
            <a:normAutofit/>
          </a:bodyPr>
          <a:lstStyle/>
          <a:p>
            <a:pPr marL="0" indent="0">
              <a:buNone/>
            </a:pPr>
            <a:r>
              <a:rPr lang="en-GB" dirty="0"/>
              <a:t>Customer churn represents a significant revenue threat to the organization. This initiative focuses on proactively identifying high-risk customers to enable targeted retention strategies and optimize resource allocation. Performance evaluation emphasizes metrics that accurately measure the model’s effectiveness in detecting at-risk customers and supporting churn mitigation efforts.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2"/>
            <a:ext cx="7772400" cy="939500"/>
          </a:xfrm>
        </p:spPr>
        <p:txBody>
          <a:bodyPr/>
          <a:lstStyle/>
          <a:p>
            <a:pPr algn="ctr"/>
            <a:r>
              <a:rPr dirty="0"/>
              <a:t>Success Metrics</a:t>
            </a:r>
          </a:p>
        </p:txBody>
      </p:sp>
      <p:sp>
        <p:nvSpPr>
          <p:cNvPr id="3" name="Content Placeholder 2"/>
          <p:cNvSpPr>
            <a:spLocks noGrp="1"/>
          </p:cNvSpPr>
          <p:nvPr>
            <p:ph idx="1"/>
          </p:nvPr>
        </p:nvSpPr>
        <p:spPr>
          <a:xfrm>
            <a:off x="543261" y="1797423"/>
            <a:ext cx="7772400" cy="3263154"/>
          </a:xfrm>
        </p:spPr>
        <p:txBody>
          <a:bodyPr anchor="t">
            <a:normAutofit/>
          </a:bodyPr>
          <a:lstStyle/>
          <a:p>
            <a:pPr marL="0" indent="0">
              <a:buNone/>
            </a:pPr>
            <a:r>
              <a:rPr lang="en-GB" dirty="0"/>
              <a:t>Success will be measured using key performance metrics that reflect both overall effectiveness and churn detection capability. These include;</a:t>
            </a:r>
          </a:p>
          <a:p>
            <a:r>
              <a:rPr lang="en-GB" dirty="0"/>
              <a:t>Accuracy to assess overall performance.</a:t>
            </a:r>
          </a:p>
          <a:p>
            <a:r>
              <a:rPr lang="en-GB" dirty="0"/>
              <a:t>Precision to evaluate the quality of positive predictions.</a:t>
            </a:r>
          </a:p>
          <a:p>
            <a:r>
              <a:rPr lang="en-GB" dirty="0"/>
              <a:t>Recall to measure the model’s ability to detect churn</a:t>
            </a:r>
          </a:p>
          <a:p>
            <a:r>
              <a:rPr lang="en-GB" dirty="0"/>
              <a:t>F1-Score to balance precision and recall </a:t>
            </a:r>
          </a:p>
          <a:p>
            <a:r>
              <a:rPr lang="en-GB" dirty="0"/>
              <a:t>Confusion Matrix to </a:t>
            </a:r>
            <a:r>
              <a:rPr lang="en-GB" dirty="0" err="1"/>
              <a:t>analyze</a:t>
            </a:r>
            <a:r>
              <a:rPr lang="en-GB" dirty="0"/>
              <a:t> prediction errors in detail.</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1"/>
            <a:ext cx="7772400" cy="670559"/>
          </a:xfrm>
        </p:spPr>
        <p:txBody>
          <a:bodyPr anchor="t"/>
          <a:lstStyle/>
          <a:p>
            <a:pPr algn="ctr"/>
            <a:r>
              <a:rPr dirty="0"/>
              <a:t>Model Results Overview</a:t>
            </a:r>
          </a:p>
        </p:txBody>
      </p:sp>
      <p:sp>
        <p:nvSpPr>
          <p:cNvPr id="3" name="Content Placeholder 2"/>
          <p:cNvSpPr>
            <a:spLocks noGrp="1"/>
          </p:cNvSpPr>
          <p:nvPr>
            <p:ph idx="1"/>
          </p:nvPr>
        </p:nvSpPr>
        <p:spPr>
          <a:xfrm>
            <a:off x="586291" y="1816249"/>
            <a:ext cx="7772400" cy="2649968"/>
          </a:xfrm>
        </p:spPr>
        <p:txBody>
          <a:bodyPr anchor="t"/>
          <a:lstStyle/>
          <a:p>
            <a:pPr marL="0" indent="0" algn="ctr">
              <a:buNone/>
            </a:pPr>
            <a:r>
              <a:rPr lang="en-GB" b="1" u="sng" dirty="0"/>
              <a:t>Accuracy</a:t>
            </a:r>
          </a:p>
          <a:p>
            <a:pPr marL="0" indent="0">
              <a:buNone/>
            </a:pPr>
            <a:r>
              <a:rPr lang="en-GB" dirty="0"/>
              <a:t>The model achieves an overall accuracy of 85.9% across 667 test samples. However, the dataset is highly imbalanced, with 570 non-churn customers compared to only 97 churn customers. This imbalance means the high accuracy is largely driven by the model’s strong performance on the majority (non-churn) class. As a result, accuracy alone may overstate the model’s effectiveness in detecting churn, and additional metrics are required to properly assess its ability to identify at-risk customers.</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1"/>
            <a:ext cx="7772400" cy="681317"/>
          </a:xfrm>
        </p:spPr>
        <p:txBody>
          <a:bodyPr anchor="t"/>
          <a:lstStyle/>
          <a:p>
            <a:pPr algn="ctr"/>
            <a:r>
              <a:rPr dirty="0"/>
              <a:t>Class Performance Analysis</a:t>
            </a:r>
          </a:p>
        </p:txBody>
      </p:sp>
      <p:sp>
        <p:nvSpPr>
          <p:cNvPr id="3" name="Content Placeholder 2"/>
          <p:cNvSpPr>
            <a:spLocks noGrp="1"/>
          </p:cNvSpPr>
          <p:nvPr>
            <p:ph idx="1"/>
          </p:nvPr>
        </p:nvSpPr>
        <p:spPr>
          <a:xfrm>
            <a:off x="597049" y="1783976"/>
            <a:ext cx="7772400" cy="2671483"/>
          </a:xfrm>
        </p:spPr>
        <p:txBody>
          <a:bodyPr/>
          <a:lstStyle/>
          <a:p>
            <a:pPr marL="0" indent="0">
              <a:buNone/>
            </a:pPr>
            <a:r>
              <a:rPr lang="en-GB" dirty="0"/>
              <a:t>The model demonstrates strong performance in predicting non-churn customers, with high precision (0.88), recall (0.96), and F1-score (0.92), indicating reliable identification of customers who are likely to stay. However, performance on the churn class is significantly weaker, with low recall (0.24) and F1-score (0.33). This means the model misses most customers who are at-risk of churning. While it is highly effective for the majority class, its ability to detect churn customers remains limited and requires improvement before deployment.</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2"/>
            <a:ext cx="7772400" cy="810408"/>
          </a:xfrm>
        </p:spPr>
        <p:txBody>
          <a:bodyPr/>
          <a:lstStyle/>
          <a:p>
            <a:pPr algn="ctr"/>
            <a:r>
              <a:rPr dirty="0"/>
              <a:t>Confusion Matrix Insights</a:t>
            </a:r>
          </a:p>
        </p:txBody>
      </p:sp>
      <p:sp>
        <p:nvSpPr>
          <p:cNvPr id="3" name="Content Placeholder 2"/>
          <p:cNvSpPr>
            <a:spLocks noGrp="1"/>
          </p:cNvSpPr>
          <p:nvPr>
            <p:ph idx="1"/>
          </p:nvPr>
        </p:nvSpPr>
        <p:spPr>
          <a:xfrm>
            <a:off x="457200" y="1561155"/>
            <a:ext cx="7772400" cy="4344793"/>
          </a:xfrm>
        </p:spPr>
        <p:txBody>
          <a:bodyPr>
            <a:normAutofit/>
          </a:bodyPr>
          <a:lstStyle/>
          <a:p>
            <a:endParaRPr lang="en-GB" dirty="0"/>
          </a:p>
          <a:p>
            <a:endParaRPr lang="en-GB" dirty="0"/>
          </a:p>
          <a:p>
            <a:endParaRPr lang="en-GB" dirty="0"/>
          </a:p>
          <a:p>
            <a:endParaRPr lang="en-GB" dirty="0"/>
          </a:p>
          <a:p>
            <a:endParaRPr lang="en-GB" dirty="0"/>
          </a:p>
          <a:p>
            <a:endParaRPr lang="en-GB" dirty="0"/>
          </a:p>
          <a:p>
            <a:pPr marL="0" indent="0">
              <a:buNone/>
            </a:pPr>
            <a:r>
              <a:rPr lang="en-GB" sz="1600" dirty="0"/>
              <a:t>The model correctly identifies 550 non-churn customers and 23 churn customers. However, it incorrectly flags 20 customers as churn when they are not, and more critically, it fails to detect 74 actual churn customers. This means approximately 76% of churn customers go undetected. While the model performs well in identifying customers who will stay, its limited ability to capture at-risk customers significantly reduces its effectiveness for retention strategy implementation.</a:t>
            </a:r>
          </a:p>
        </p:txBody>
      </p:sp>
      <p:pic>
        <p:nvPicPr>
          <p:cNvPr id="5" name="Picture 4">
            <a:extLst>
              <a:ext uri="{FF2B5EF4-FFF2-40B4-BE49-F238E27FC236}">
                <a16:creationId xmlns:a16="http://schemas.microsoft.com/office/drawing/2014/main" id="{65322C12-2D53-6B65-6E4F-37F9FC54A81B}"/>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6292" y="1561155"/>
            <a:ext cx="5153879" cy="25065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2"/>
            <a:ext cx="7772400" cy="638286"/>
          </a:xfrm>
        </p:spPr>
        <p:txBody>
          <a:bodyPr anchor="t"/>
          <a:lstStyle/>
          <a:p>
            <a:pPr algn="ctr"/>
            <a:r>
              <a:rPr dirty="0"/>
              <a:t>Business Risk Assessment</a:t>
            </a:r>
          </a:p>
        </p:txBody>
      </p:sp>
      <p:sp>
        <p:nvSpPr>
          <p:cNvPr id="3" name="Content Placeholder 2"/>
          <p:cNvSpPr>
            <a:spLocks noGrp="1"/>
          </p:cNvSpPr>
          <p:nvPr>
            <p:ph idx="1"/>
          </p:nvPr>
        </p:nvSpPr>
        <p:spPr>
          <a:xfrm>
            <a:off x="457200" y="1485451"/>
            <a:ext cx="7772400" cy="2983455"/>
          </a:xfrm>
        </p:spPr>
        <p:txBody>
          <a:bodyPr anchor="t"/>
          <a:lstStyle/>
          <a:p>
            <a:pPr marL="0" indent="0">
              <a:buNone/>
            </a:pPr>
            <a:r>
              <a:rPr lang="en-GB" dirty="0"/>
              <a:t>The model fails to identify the majority of churn customers, meaning most at-risk customers remain undetected. As a result, retention initiatives would not effectively target those who are most likely to leave, reducing the overall impact of intervention strategies. This limitation may lead to continued revenue leakage and operational inefficiencies. The model currently exhibits a bias toward predicting non-churn customers, highlighting the need for recalibration before deployment.</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1"/>
            <a:ext cx="7772400" cy="745863"/>
          </a:xfrm>
        </p:spPr>
        <p:txBody>
          <a:bodyPr anchor="t"/>
          <a:lstStyle/>
          <a:p>
            <a:pPr algn="ctr"/>
            <a:r>
              <a:rPr dirty="0"/>
              <a:t>Strategic Recommendations</a:t>
            </a:r>
          </a:p>
        </p:txBody>
      </p:sp>
      <p:sp>
        <p:nvSpPr>
          <p:cNvPr id="3" name="Content Placeholder 2"/>
          <p:cNvSpPr>
            <a:spLocks noGrp="1"/>
          </p:cNvSpPr>
          <p:nvPr>
            <p:ph idx="1"/>
          </p:nvPr>
        </p:nvSpPr>
        <p:spPr>
          <a:xfrm>
            <a:off x="457200" y="1742739"/>
            <a:ext cx="7772400" cy="2940425"/>
          </a:xfrm>
        </p:spPr>
        <p:txBody>
          <a:bodyPr anchor="t"/>
          <a:lstStyle/>
          <a:p>
            <a:pPr marL="0" indent="0">
              <a:buNone/>
            </a:pPr>
            <a:r>
              <a:rPr lang="en-GB" dirty="0"/>
              <a:t>To improve results, we recommend refining the model to better identify customers who are likely to leave. This includes adjusting how the system evaluates risk, placing greater emphasis on correctly identifying at-risk customers rather than just overall accuracy, and exploring more advanced predictive approaches. These improvements will help ensure retention efforts are focused on the customers who matter most and reduce potential revenue loss.</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1"/>
            <a:ext cx="7772400" cy="735105"/>
          </a:xfrm>
        </p:spPr>
        <p:txBody>
          <a:bodyPr anchor="t"/>
          <a:lstStyle/>
          <a:p>
            <a:pPr algn="ctr"/>
            <a:r>
              <a:rPr dirty="0"/>
              <a:t> Conclusion</a:t>
            </a:r>
            <a:r>
              <a:rPr lang="en-GB" dirty="0"/>
              <a:t> and recommendation</a:t>
            </a:r>
            <a:endParaRPr dirty="0"/>
          </a:p>
        </p:txBody>
      </p:sp>
      <p:sp>
        <p:nvSpPr>
          <p:cNvPr id="3" name="Content Placeholder 2"/>
          <p:cNvSpPr>
            <a:spLocks noGrp="1"/>
          </p:cNvSpPr>
          <p:nvPr>
            <p:ph idx="1"/>
          </p:nvPr>
        </p:nvSpPr>
        <p:spPr>
          <a:xfrm>
            <a:off x="564776" y="1344706"/>
            <a:ext cx="7772400" cy="1859777"/>
          </a:xfrm>
        </p:spPr>
        <p:txBody>
          <a:bodyPr anchor="t">
            <a:normAutofit/>
          </a:bodyPr>
          <a:lstStyle/>
          <a:p>
            <a:pPr marL="457200" lvl="1" indent="0">
              <a:buNone/>
            </a:pPr>
            <a:r>
              <a:rPr lang="en-GB" sz="1800" dirty="0"/>
              <a:t>While the model demonstrates strong overall accuracy (86%), it performs poorly in identifying customers at risk of churn, capturing only 24% of actual churn cases. As a result, the model is not yet suitable for deployment. Additional refinement is necessary to improve churn detection and minimize potential business risk.</a:t>
            </a:r>
            <a:endParaRPr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12D38-B79C-D0BE-F4C7-B36904C7AE13}"/>
              </a:ext>
            </a:extLst>
          </p:cNvPr>
          <p:cNvSpPr>
            <a:spLocks noGrp="1"/>
          </p:cNvSpPr>
          <p:nvPr>
            <p:ph type="title"/>
          </p:nvPr>
        </p:nvSpPr>
        <p:spPr/>
        <p:txBody>
          <a:bodyPr/>
          <a:lstStyle/>
          <a:p>
            <a:br>
              <a:rPr lang="en-GB" dirty="0"/>
            </a:br>
            <a:endParaRPr lang="en-GB" dirty="0"/>
          </a:p>
        </p:txBody>
      </p:sp>
      <p:sp>
        <p:nvSpPr>
          <p:cNvPr id="3" name="Content Placeholder 2">
            <a:extLst>
              <a:ext uri="{FF2B5EF4-FFF2-40B4-BE49-F238E27FC236}">
                <a16:creationId xmlns:a16="http://schemas.microsoft.com/office/drawing/2014/main" id="{96258F93-B416-924F-9867-FC5A33389F62}"/>
              </a:ext>
            </a:extLst>
          </p:cNvPr>
          <p:cNvSpPr>
            <a:spLocks noGrp="1"/>
          </p:cNvSpPr>
          <p:nvPr>
            <p:ph idx="1"/>
          </p:nvPr>
        </p:nvSpPr>
        <p:spPr>
          <a:xfrm>
            <a:off x="685800" y="1442821"/>
            <a:ext cx="7772400" cy="3649133"/>
          </a:xfrm>
        </p:spPr>
        <p:txBody>
          <a:bodyPr>
            <a:normAutofit/>
          </a:bodyPr>
          <a:lstStyle/>
          <a:p>
            <a:pPr marL="0" indent="0" algn="ctr">
              <a:buNone/>
            </a:pPr>
            <a:r>
              <a:rPr lang="en-GB" sz="8000" dirty="0"/>
              <a:t>Thank You</a:t>
            </a:r>
          </a:p>
        </p:txBody>
      </p:sp>
    </p:spTree>
    <p:extLst>
      <p:ext uri="{BB962C8B-B14F-4D97-AF65-F5344CB8AC3E}">
        <p14:creationId xmlns:p14="http://schemas.microsoft.com/office/powerpoint/2010/main" val="41791171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41</TotalTime>
  <Words>607</Words>
  <Application>Microsoft Office PowerPoint</Application>
  <PresentationFormat>On-screen Show (4:3)</PresentationFormat>
  <Paragraphs>34</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Celestial</vt:lpstr>
      <vt:lpstr>SyriaTel Customer Churn Prediction</vt:lpstr>
      <vt:lpstr>Business Problem</vt:lpstr>
      <vt:lpstr>Success Metrics</vt:lpstr>
      <vt:lpstr>Model Results Overview</vt:lpstr>
      <vt:lpstr>Class Performance Analysis</vt:lpstr>
      <vt:lpstr>Confusion Matrix Insights</vt:lpstr>
      <vt:lpstr>Business Risk Assessment</vt:lpstr>
      <vt:lpstr>Strategic Recommendations</vt:lpstr>
      <vt:lpstr> Conclusion and recommendation</vt:lpstr>
      <vt:lpstr>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isaac</dc:creator>
  <cp:keywords/>
  <dc:description>generated using python-pptx</dc:description>
  <cp:lastModifiedBy>Isaac Macharia</cp:lastModifiedBy>
  <cp:revision>3</cp:revision>
  <dcterms:created xsi:type="dcterms:W3CDTF">2013-01-27T09:14:16Z</dcterms:created>
  <dcterms:modified xsi:type="dcterms:W3CDTF">2026-02-11T14:14:06Z</dcterms:modified>
  <cp:category/>
</cp:coreProperties>
</file>